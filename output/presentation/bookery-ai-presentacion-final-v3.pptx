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8e7675ce9546ba" /><Relationship Type="http://schemas.openxmlformats.org/officeDocument/2006/relationships/extended-properties" Target="/docProps/app.xml" Id="R9fd323b0346a4eb9" /><Relationship Type="http://schemas.openxmlformats.org/officeDocument/2006/relationships/officeDocument" Target="/ppt/presentation.xml" Id="Rf1238196158043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5a905017dc4f9b"/>
  </p:sldMasterIdLst>
  <p:notesMasterIdLst>
    <p:notesMasterId xmlns:r="http://schemas.openxmlformats.org/officeDocument/2006/relationships" r:id="R989f5230eab54bff"/>
  </p:notesMasterIdLst>
  <p:sldIdLst>
    <p:sldId xmlns:r="http://schemas.openxmlformats.org/officeDocument/2006/relationships" id="256" r:id="R0be0d47796a24b0d"/>
    <p:sldId xmlns:r="http://schemas.openxmlformats.org/officeDocument/2006/relationships" id="257" r:id="R969156f9795f4046"/>
    <p:sldId xmlns:r="http://schemas.openxmlformats.org/officeDocument/2006/relationships" id="258" r:id="Rfba3415a4a2f4010"/>
    <p:sldId xmlns:r="http://schemas.openxmlformats.org/officeDocument/2006/relationships" id="259" r:id="Ra5b942439b7541d1"/>
    <p:sldId xmlns:r="http://schemas.openxmlformats.org/officeDocument/2006/relationships" id="260" r:id="Rb2a66635b66247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c857a1ee044544" /><Relationship Type="http://schemas.openxmlformats.org/officeDocument/2006/relationships/slideMaster" Target="/ppt/slideMasters/slideMaster1.xml" Id="R915a905017dc4f9b" /><Relationship Type="http://schemas.openxmlformats.org/officeDocument/2006/relationships/notesMaster" Target="/ppt/notesMasters/notesMaster1.xml" Id="R989f5230eab54bff" /><Relationship Type="http://schemas.openxmlformats.org/officeDocument/2006/relationships/presProps" Target="/ppt/presProps.xml" Id="R8f6ea87178064468" /><Relationship Type="http://schemas.openxmlformats.org/officeDocument/2006/relationships/tableStyles" Target="/ppt/tableStyles.xml" Id="R50c8400cb6424865" /><Relationship Type="http://schemas.openxmlformats.org/officeDocument/2006/relationships/slide" Target="/ppt/slides/slide1.xml" Id="R0be0d47796a24b0d" /><Relationship Type="http://schemas.openxmlformats.org/officeDocument/2006/relationships/slide" Target="/ppt/slides/slide2.xml" Id="R969156f9795f4046" /><Relationship Type="http://schemas.openxmlformats.org/officeDocument/2006/relationships/slide" Target="/ppt/slides/slide3.xml" Id="Rfba3415a4a2f4010" /><Relationship Type="http://schemas.openxmlformats.org/officeDocument/2006/relationships/slide" Target="/ppt/slides/slide4.xml" Id="Ra5b942439b7541d1" /><Relationship Type="http://schemas.openxmlformats.org/officeDocument/2006/relationships/slide" Target="/ppt/slides/slide5.xml" Id="Rb2a66635b66247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e2b7589ed64b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ee965f2c4f4500" /><Relationship Type="http://schemas.openxmlformats.org/officeDocument/2006/relationships/notesMaster" Target="/ppt/notesMasters/notesMaster1.xml" Id="Re1cd44f8c42b4b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84d09c0ffa409d" /><Relationship Type="http://schemas.openxmlformats.org/officeDocument/2006/relationships/notesMaster" Target="/ppt/notesMasters/notesMaster1.xml" Id="Rcbf181e5354a4e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f89f58000942f5" /><Relationship Type="http://schemas.openxmlformats.org/officeDocument/2006/relationships/notesMaster" Target="/ppt/notesMasters/notesMaster1.xml" Id="R03246bd95cfd4b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a79fa782b643f7" /><Relationship Type="http://schemas.openxmlformats.org/officeDocument/2006/relationships/notesMaster" Target="/ppt/notesMasters/notesMaster1.xml" Id="R14702a28379743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3283367541482e" /><Relationship Type="http://schemas.openxmlformats.org/officeDocument/2006/relationships/notesMaster" Target="/ppt/notesMasters/notesMaster1.xml" Id="R40741d80997a44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45 s. Problema: una consulta conversacional requiere ordenar libros relevantes. Objetivo: comparar semántica con BM25. Datos del catálogo y arquitectura descritos en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55 s. Modelo: sentence-transformers/paraphrase-multilingual-MiniLM-L12-v2, revisión e8f8c211226b894fcb81acc59f3b34ba3efd5f42. No se entrenó en este proyecto. Los candidatos de los dos métodos se mezclaron sin revelar procedencia y se calificaron de 0 a 3. Fuente: README.md y data/evaluation/reviewed_queries.json.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45 s. nDCG@5 es la métrica principal y evalúa el orden de los cinco primeros libros. El semántico obtuvo 0,8998 y BM25 0,8456. En Precision@5, BM25 obtuvo 20 libros con nota 2 o 3 entre 45 posiciones, y el semántico 19. Fuente: results/evaluation_reviewed.csv. Muestra pequeña; no afirmar generalización.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120 s. Demostrar en vivo una consulta válida y la entrada vacía. Si hay tiempo, mostrar vigilancia digital como caso difícil. La captura es respaldo, no reemplaza la aplicación. Fuente: prueba local del frontend y docs/captura-frontend.png.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55 s. Explicar que el resultado vale para estas nueve consultas y este catálogo. La evaluación no mide la calidad de explicaciones LLM ni la variante Jev. Mostrar el repositorio y señalar README, informe y CSV revisado. Total sugerido: 5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792af44da2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8eecee202545b3" /><Relationship Type="http://schemas.openxmlformats.org/officeDocument/2006/relationships/slideLayout" Target="/ppt/slideLayouts/slideLayout1.xml" Id="R4fb692979db045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b692979db045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7ebbcbca949f5" /><Relationship Type="http://schemas.openxmlformats.org/officeDocument/2006/relationships/notesSlide" Target="/ppt/notesSlides/notesSlide1.xml" Id="R4fbb27416bbc41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0860a5ca744c5" /><Relationship Type="http://schemas.openxmlformats.org/officeDocument/2006/relationships/notesSlide" Target="/ppt/notesSlides/notesSlide2.xml" Id="R1cb015e42f544d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fbea6878845b3" /><Relationship Type="http://schemas.openxmlformats.org/officeDocument/2006/relationships/notesSlide" Target="/ppt/notesSlides/notesSlide3.xml" Id="R2a3fc248993746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e4888674e4a5d" /><Relationship Type="http://schemas.openxmlformats.org/officeDocument/2006/relationships/image" Target="/ppt/media/image.jpeg" Id="Ra95e675e48eb44ee" /><Relationship Type="http://schemas.openxmlformats.org/officeDocument/2006/relationships/notesSlide" Target="/ppt/notesSlides/notesSlide4.xml" Id="R6ddd1b2459ca45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555272f034658" /><Relationship Type="http://schemas.openxmlformats.org/officeDocument/2006/relationships/notesSlide" Target="/ppt/notesSlides/notesSlide5.xml" Id="R993c5cf72ba747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B5383-FA91-4614-A81B-E4ED5DD1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9277E-2C6A-4044-A31E-21074D12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Recomendar libros con una consulta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EC5D7-3F57-4D88-9F20-CF0F7D58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Proyecto final de 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E732D-6D9C-4CC5-8275-041EBFBE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BOOKERY AI  ·  1/5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9E8B6-3807-44CA-8A98-5E0710DB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El usuario escribe qué quiere leer.</a:t>
            </a:r>
          </a:p>
          <a:p xmlns:a="http://schemas.openxmlformats.org/drawingml/2006/main">
            <a:pPr>
              <a:defRPr sz="24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Bookery AI devuelve cinco libros del catálogo académico en español.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A4E0B-7A7A-40E3-8970-05F66D1F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F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42421-F928-41B4-891A-BA3383B5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866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215 libros · 28 categorías</a:t>
            </a:r>
          </a:p>
          <a:p xmlns:a="http://schemas.openxmlformats.org/drawingml/2006/main">
            <a:pPr>
              <a:defRPr sz="20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Modelo semántico y línea base BM25</a:t>
            </a:r>
          </a:p>
        </p:txBody>
      </p:sp>
    </p:spTree>
    <p:extLst>
      <p:ext uri="{BB962C8B-B14F-4D97-AF65-F5344CB8AC3E}">
        <p14:creationId xmlns:p14="http://schemas.microsoft.com/office/powerpoint/2010/main" val="1427275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07751-7D5D-4549-B8CA-2CE6E52C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9A320-72D2-4FB0-B13E-CB6788D5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Dos métodos, las mismas consultas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B17C6-8B57-45B7-AC7A-B24A173D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BM25 es la referencia; el modelo semántico reutiliza pesos preentrenados.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E1D43-88C3-4975-AC0E-85C681D6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BOOKERY AI  ·  2/5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DA390-390F-4379-859E-D504DEEE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F5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21FDB-4F45-449A-B7B6-ECFEFA64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BM25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C9907-9F94-4EA2-83D1-3E58CEDA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Ordena por coincidencia de palabras</a:t>
            </a:r>
          </a:p>
          <a:p xmlns:a="http://schemas.openxmlformats.org/drawingml/2006/main">
            <a:pPr>
              <a:defRPr sz="18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en título, autor, géneros y descripción.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FBBC7-8A03-4A9C-A216-4BF32DC4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F5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E10CC-66DA-4978-8C5A-7219FDD5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Semántico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40BF3-F889-48A8-B063-25429687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Compara embeddings normalizados</a:t>
            </a:r>
          </a:p>
          <a:p xmlns:a="http://schemas.openxmlformats.org/drawingml/2006/main">
            <a:pPr>
              <a:defRPr sz="18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con similitud coseno.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8D854-315C-4690-B40C-37FEFD1F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Validación: 9 consultas · 71 pares consulta-libro · notas humanas de 0 a 3</a:t>
            </a:r>
          </a:p>
        </p:txBody>
      </p:sp>
    </p:spTree>
    <p:extLst>
      <p:ext uri="{BB962C8B-B14F-4D97-AF65-F5344CB8AC3E}">
        <p14:creationId xmlns:p14="http://schemas.microsoft.com/office/powerpoint/2010/main" val="10037874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69693-DDEF-494D-8D01-7A7990D0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B4B50-92DB-45B1-9A07-9D9316C7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El semántico ordenó mejor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9A507-B7E9-4A42-A432-771DDFDB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Resultado de 9 consultas calificadas manualmente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3BF4E-5C89-426E-8B69-7EAA5806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BOOKERY AI  ·  3/5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495DA-D0AE-4B6F-944C-732D8539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nDCG@5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677B8-815A-48B7-88D2-83547FA5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Semántico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DC381-CBCB-4A3B-B5C9-5B8669B3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634224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B0B9D-4B25-4205-8BBD-83845195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0,8998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4A94F-16C5-44B1-B66B-89209555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BM25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75938-17CE-415F-929F-D22DCD0B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33775"/>
            <a:ext cx="596021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F5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B2F67-EB65-41F6-B571-1AAABE06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0,8456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72D45-6732-40D8-A900-40DA31B3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1070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82321-2135-41E9-B046-35C1E0B1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Precision@5: BM25 0,4444 · Semántico 0,4222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1864A-3135-44CB-ABB5-E9E34DDE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BM25 incluyó un libro útil más entre 45 posiciones evaluadas.</a:t>
            </a:r>
          </a:p>
        </p:txBody>
      </p:sp>
    </p:spTree>
    <p:extLst>
      <p:ext uri="{BB962C8B-B14F-4D97-AF65-F5344CB8AC3E}">
        <p14:creationId xmlns:p14="http://schemas.microsoft.com/office/powerpoint/2010/main" val="2095943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9DE17-493C-4419-968D-93EA2C92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CFC99-C8E8-42D5-84D2-BFC0AAE4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Demostración del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DA071-21CA-4385-A178-6B753E9D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Frontend → API FastAPI → recuperador → resultados del catálogo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379B7-0BA7-4ED6-9F47-0C455E14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BOOKERY AI  ·  4/5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e675e48eb44ee"/>
          <a:stretch xmlns:a="http://schemas.openxmlformats.org/drawingml/2006/main"/>
        </p:blipFill>
        <p:spPr>
          <a:xfrm xmlns:a="http://schemas.openxmlformats.org/drawingml/2006/main">
            <a:off x="597958" y="2047875"/>
            <a:ext cx="6519333" cy="3667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C0A81-B4BB-4382-800E-85F6D425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02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Caso válido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164BF-6FB1-4081-998E-02AC3AED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52725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“Imperio galáctico” → Fundación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7A77C-EC1C-49EF-8553-00C39C8A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Límite observado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7F9F7-79F4-4EEB-8C0F-63015051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“Vigilancia digital” también trajo libros poco relacionados.</a:t>
            </a:r>
          </a:p>
        </p:txBody>
      </p:sp>
    </p:spTree>
    <p:extLst>
      <p:ext uri="{BB962C8B-B14F-4D97-AF65-F5344CB8AC3E}">
        <p14:creationId xmlns:p14="http://schemas.microsoft.com/office/powerpoint/2010/main" val="578640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B532F-F72B-4556-863C-78151D6F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80B93-1876-4E10-8E91-BEA14E4E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Conclusión y límites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22D3C-D2DC-4355-8538-DE83D5E7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BOOKERY AI  ·  5/5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A4352-512C-43F2-B607-00F9E8D5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En estas nueve consultas, la búsqueda semántica mejoró el orden frente a BM25.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30BB5-840C-4132-B3FA-CD2082A3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F5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24275-3BE6-4F91-96D5-378D5D17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009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El catálogo es limitado y muchas fichas solo tienen temas.</a:t>
            </a:r>
          </a:p>
          <a:p xmlns:a="http://schemas.openxmlformats.org/drawingml/2006/main">
            <a:pPr>
              <a:defRPr sz="19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Semántico + Jev no forma parte de esta evaluación.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9A214-E65E-4F91-B71B-7A89AEF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Repositorio: github.com/charlydeveloping/Bookery-AI</a:t>
            </a:r>
          </a:p>
        </p:txBody>
      </p:sp>
    </p:spTree>
    <p:extLst>
      <p:ext uri="{BB962C8B-B14F-4D97-AF65-F5344CB8AC3E}">
        <p14:creationId xmlns:p14="http://schemas.microsoft.com/office/powerpoint/2010/main" val="699223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2026-09-30T20:35:00.1090000Z</dcterms:created>
  <dcterms:modified xsi:type="dcterms:W3CDTF">2026-09-30T20:35:00.1090000Z</dcterms:modified>
</coreProperties>
</file>