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a723b66824111" /><Relationship Type="http://schemas.openxmlformats.org/officeDocument/2006/relationships/extended-properties" Target="/docProps/app.xml" Id="Rfac614a9f66446ab" /><Relationship Type="http://schemas.openxmlformats.org/officeDocument/2006/relationships/officeDocument" Target="/ppt/presentation.xml" Id="Rc82c5dbd94fa4b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84e7978f3345f0"/>
  </p:sldMasterIdLst>
  <p:notesMasterIdLst>
    <p:notesMasterId xmlns:r="http://schemas.openxmlformats.org/officeDocument/2006/relationships" r:id="R757025a4d87d47c0"/>
  </p:notesMasterIdLst>
  <p:sldIdLst>
    <p:sldId xmlns:r="http://schemas.openxmlformats.org/officeDocument/2006/relationships" id="256" r:id="R4269557d55144d3a"/>
    <p:sldId xmlns:r="http://schemas.openxmlformats.org/officeDocument/2006/relationships" id="257" r:id="R7d91791de7614671"/>
    <p:sldId xmlns:r="http://schemas.openxmlformats.org/officeDocument/2006/relationships" id="258" r:id="Rb3a961c2b77845e8"/>
    <p:sldId xmlns:r="http://schemas.openxmlformats.org/officeDocument/2006/relationships" id="259" r:id="Rec58f518a5834d65"/>
    <p:sldId xmlns:r="http://schemas.openxmlformats.org/officeDocument/2006/relationships" id="260" r:id="R0caf6e07850b41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07173125564179" /><Relationship Type="http://schemas.openxmlformats.org/officeDocument/2006/relationships/slideMaster" Target="/ppt/slideMasters/slideMaster1.xml" Id="Rf184e7978f3345f0" /><Relationship Type="http://schemas.openxmlformats.org/officeDocument/2006/relationships/notesMaster" Target="/ppt/notesMasters/notesMaster1.xml" Id="R757025a4d87d47c0" /><Relationship Type="http://schemas.openxmlformats.org/officeDocument/2006/relationships/presProps" Target="/ppt/presProps.xml" Id="Rd59cc37656ec4b81" /><Relationship Type="http://schemas.openxmlformats.org/officeDocument/2006/relationships/tableStyles" Target="/ppt/tableStyles.xml" Id="Reee083305b814d0f" /><Relationship Type="http://schemas.openxmlformats.org/officeDocument/2006/relationships/slide" Target="/ppt/slides/slide1.xml" Id="R4269557d55144d3a" /><Relationship Type="http://schemas.openxmlformats.org/officeDocument/2006/relationships/slide" Target="/ppt/slides/slide2.xml" Id="R7d91791de7614671" /><Relationship Type="http://schemas.openxmlformats.org/officeDocument/2006/relationships/slide" Target="/ppt/slides/slide3.xml" Id="Rb3a961c2b77845e8" /><Relationship Type="http://schemas.openxmlformats.org/officeDocument/2006/relationships/slide" Target="/ppt/slides/slide4.xml" Id="Rec58f518a5834d65" /><Relationship Type="http://schemas.openxmlformats.org/officeDocument/2006/relationships/slide" Target="/ppt/slides/slide5.xml" Id="R0caf6e07850b41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e37dcff5894e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d20df5152947e0" /><Relationship Type="http://schemas.openxmlformats.org/officeDocument/2006/relationships/notesMaster" Target="/ppt/notesMasters/notesMaster1.xml" Id="Rbcae61863a6b49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d29c540811446f" /><Relationship Type="http://schemas.openxmlformats.org/officeDocument/2006/relationships/notesMaster" Target="/ppt/notesMasters/notesMaster1.xml" Id="R4043c1a6388f47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e0d0ee9c1f4c04" /><Relationship Type="http://schemas.openxmlformats.org/officeDocument/2006/relationships/notesMaster" Target="/ppt/notesMasters/notesMaster1.xml" Id="R48738cbc2bcd4c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39d502ccfe4699" /><Relationship Type="http://schemas.openxmlformats.org/officeDocument/2006/relationships/notesMaster" Target="/ppt/notesMasters/notesMaster1.xml" Id="Re66b29c62b1249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8d097067ef4626" /><Relationship Type="http://schemas.openxmlformats.org/officeDocument/2006/relationships/notesMaster" Target="/ppt/notesMasters/notesMaster1.xml" Id="R2583c5c0879248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40 s. Problema: una consulta conversacional requiere ordenar libros relevantes. Objetivo: comparar semántica con BM25. Datos del catálogo y arquitectura descritos en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50 s. Modelo: sentence-transformers/paraphrase-multilingual-MiniLM-L12-v2, revisión e8f8c211226b894fcb81acc59f3b34ba3efd5f42. No se entrenó en este proyecto. Los candidatos de los dos métodos se mezclaron sin revelar procedencia y se calificaron de 0 a 3. Fuente: README.md y data/evaluation/reviewed_queries.json.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40 s. nDCG@5 es la métrica principal y evalúa el orden de los cinco primeros libros. El semántico obtuvo 0,8998 y BM25 0,8456. En Precision@5, BM25 obtuvo 20 libros con nota 2 o 3 entre 45 posiciones, y el semántico 19. Fuente: results/evaluation_reviewed.csv. Muestra pequeña; no afirmar generalización.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120 s. Demostrar en vivo una consulta válida y la entrada vacía. Si hay tiempo, mostrar vigilancia digital como caso difícil. La captura es respaldo, no reemplaza la aplicación. Fuente: prueba local del frontend y docs/captura-frontend.png.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50 s. Explicar que el resultado vale para estas nueve consultas y este catálogo. La evaluación no mide la calidad de explicaciones LLM ni la variante Jev. Mostrar el repositorio y señalar README, informe y CSV revisado. Total sugerido: 5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a4aba21bd4f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724d9a1a4240e1" /><Relationship Type="http://schemas.openxmlformats.org/officeDocument/2006/relationships/slideLayout" Target="/ppt/slideLayouts/slideLayout1.xml" Id="R4092feeb49464b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92feeb49464b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1b0e65a7c4414" /><Relationship Type="http://schemas.openxmlformats.org/officeDocument/2006/relationships/notesSlide" Target="/ppt/notesSlides/notesSlide1.xml" Id="R1a8767d9ac1646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2fc3c07d34917" /><Relationship Type="http://schemas.openxmlformats.org/officeDocument/2006/relationships/notesSlide" Target="/ppt/notesSlides/notesSlide2.xml" Id="R1441a497ba9049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cda1c0cb04b52" /><Relationship Type="http://schemas.openxmlformats.org/officeDocument/2006/relationships/notesSlide" Target="/ppt/notesSlides/notesSlide3.xml" Id="Rf366a0ab8fce41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371eda5b54910" /><Relationship Type="http://schemas.openxmlformats.org/officeDocument/2006/relationships/image" Target="/ppt/media/image.jpeg" Id="R89978e83773c4584" /><Relationship Type="http://schemas.openxmlformats.org/officeDocument/2006/relationships/notesSlide" Target="/ppt/notesSlides/notesSlide4.xml" Id="R5271db3a16204c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fc3aca6104197" /><Relationship Type="http://schemas.openxmlformats.org/officeDocument/2006/relationships/notesSlide" Target="/ppt/notesSlides/notesSlide5.xml" Id="Rf2a2b2c7431a4b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CB644-4E29-4D98-AFC1-BFA82CEB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EBD65-C255-473F-AF7E-01F66687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Recomendar libros con una consulta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6D84D-8278-4CBD-A795-70543ADD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Proyecto final de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142BB-6F06-40D5-89D2-C1B2A40A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1/5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403E1-C520-4D2C-8A53-8D9CA47D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El usuario escribe qué quiere leer.</a:t>
            </a:r>
          </a:p>
          <a:p xmlns:a="http://schemas.openxmlformats.org/drawingml/2006/main">
            <a:pPr>
              <a:defRPr sz="24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Bookery AI devuelve cinco libros del catálogo académico en español.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E381B-7C9B-40E7-8AE0-48A6CC10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5CD2C-2A72-40ED-B3FD-66B6C45D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866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215 libros · 28 categorías</a:t>
            </a:r>
          </a:p>
          <a:p xmlns:a="http://schemas.openxmlformats.org/drawingml/2006/main">
            <a:pPr>
              <a:defRPr sz="20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Modelo semántico y línea base BM25</a:t>
            </a:r>
          </a:p>
        </p:txBody>
      </p:sp>
    </p:spTree>
    <p:extLst>
      <p:ext uri="{BB962C8B-B14F-4D97-AF65-F5344CB8AC3E}">
        <p14:creationId xmlns:p14="http://schemas.microsoft.com/office/powerpoint/2010/main" val="1127255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B27AC-3BDE-40BF-82F7-B9232E0D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17A7E-4EB0-4AD6-ADC1-253C737B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Dos métodos, las mismas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C572D-E3ED-4C23-AE4B-8001E4F8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BM25 es la referencia; el modelo semántico reutiliza pesos preentrenados.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290CE-002E-40C0-9532-3FCF1D71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2/5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9FF79-2147-4945-9CDD-B01C5820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61C0-81EF-4B0F-90D9-3CFB88BC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F5E6F-D843-450A-ABBB-D98711E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Ordena por coincidencia de palabras</a:t>
            </a:r>
          </a:p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en título, autor, géneros y descripción.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89533-CFEA-49F4-9271-4320D85F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5F1A1-9EA1-4221-B3A1-72B0C10D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Semántico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4F972-810B-460C-A609-0B396F7A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Compara embeddings normalizados</a:t>
            </a:r>
          </a:p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con similitud coseno.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C15E6-9D01-44A6-B36D-71FC42AF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Validación: 9 consultas · 71 pares consulta-libro · notas humanas de 0 a 3</a:t>
            </a:r>
          </a:p>
        </p:txBody>
      </p:sp>
    </p:spTree>
    <p:extLst>
      <p:ext uri="{BB962C8B-B14F-4D97-AF65-F5344CB8AC3E}">
        <p14:creationId xmlns:p14="http://schemas.microsoft.com/office/powerpoint/2010/main" val="108907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D60C5-3619-4C7B-9653-6FD9AB4A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1D7EA-9FC9-45CD-BE90-658CCA3E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El semántico ordenó mejor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80977-8B2A-4C88-B7C7-8E49AED3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Resultado de 9 consultas calificadas manualmente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3AEA1-6B25-4A83-B411-ACC313A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3/5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8D35C-9CA7-42A2-A698-354A8EA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nDCG@5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6B4D7-5B7D-43A6-B2D9-65E644B3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Semántico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4F21C-ACAA-4641-852F-5FD13F1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634224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17266-36FD-4B91-B3AF-3674B238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0,8998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6AB33-2466-4FD0-A13E-B4CF67CB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846D4-9D29-4E01-8F6B-541ACF69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33775"/>
            <a:ext cx="596021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0E01A-53C1-41F6-B903-F192A8AE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0,8456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78843-2B02-4D40-A995-A42DD908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1070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3AD1A-A2BA-4CDD-8586-2C78AC84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Precision@5: BM25 0,4444 · Semántico 0,4222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AF0D6-0B7C-4671-B488-E903AC13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BM25 incluyó un libro útil más entre 45 posiciones evaluadas.</a:t>
            </a:r>
          </a:p>
        </p:txBody>
      </p:sp>
    </p:spTree>
    <p:extLst>
      <p:ext uri="{BB962C8B-B14F-4D97-AF65-F5344CB8AC3E}">
        <p14:creationId xmlns:p14="http://schemas.microsoft.com/office/powerpoint/2010/main" val="200833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51F4D-0E3D-49FD-A04B-695ADBBD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222A3-0C78-4338-BCF1-0420D50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Demostración del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F5C9B-4700-43AD-925B-EFF767D6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Frontend → API FastAPI → recuperador → resultados del catálogo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1B616-AB11-4033-B5D4-2FC1C354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4/5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78e83773c4584"/>
          <a:stretch xmlns:a="http://schemas.openxmlformats.org/drawingml/2006/main"/>
        </p:blipFill>
        <p:spPr>
          <a:xfrm xmlns:a="http://schemas.openxmlformats.org/drawingml/2006/main">
            <a:off x="597958" y="2047875"/>
            <a:ext cx="6519333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E7E5C-EA80-4493-8806-E2CE2DC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02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Caso válido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73CDC-AF07-4F77-B4CA-0765D99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52725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“Imperio galáctico” → Fundación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F4798-2096-4380-9883-AF470AF3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Límite observado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7002A-C2BB-4CED-9203-B62C9EB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“Vigilancia digital” también trajo libros poco relacionados.</a:t>
            </a:r>
          </a:p>
        </p:txBody>
      </p:sp>
    </p:spTree>
    <p:extLst>
      <p:ext uri="{BB962C8B-B14F-4D97-AF65-F5344CB8AC3E}">
        <p14:creationId xmlns:p14="http://schemas.microsoft.com/office/powerpoint/2010/main" val="1579092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C3849-253D-4065-93D4-1A0260D8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D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30537-99D1-4909-B79D-33FA35B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Conclusión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E8124-E060-44BE-9BAB-69952E81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6F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F50"/>
                </a:solidFill>
                <a:latin typeface="Arial"/>
                <a:ea typeface="Arial"/>
                <a:cs typeface="Arial"/>
              </a:rPr>
              <a:t>BOOKERY AI  ·  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F7B37-630C-41A8-8588-E34EF119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En estas nueve consultas, la búsqueda semántica mejoró el orden frente a BM25.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FBC99-F165-4DF8-8F7B-E2DEC606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F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F7444-2E6C-4F61-8D98-BAB71481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009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El catálogo es limitado y muchas fichas solo tienen temas.</a:t>
            </a:r>
          </a:p>
          <a:p xmlns:a="http://schemas.openxmlformats.org/drawingml/2006/main">
            <a:pPr>
              <a:defRPr sz="1950" b="0">
                <a:solidFill>
                  <a:srgbClr val="2434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42D"/>
                </a:solidFill>
                <a:latin typeface="Arial"/>
                <a:ea typeface="Arial"/>
                <a:cs typeface="Arial"/>
              </a:rPr>
              <a:t>Semántico + Jev no forma parte de esta evaluación.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686A3-EF15-4EA2-A378-8CBA9FA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4D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4D38"/>
                </a:solidFill>
                <a:latin typeface="Arial"/>
                <a:ea typeface="Arial"/>
                <a:cs typeface="Arial"/>
              </a:rPr>
              <a:t>Repositorio: github.com/charlydeveloping/Bookery-AI</a:t>
            </a:r>
          </a:p>
        </p:txBody>
      </p:sp>
    </p:spTree>
    <p:extLst>
      <p:ext uri="{BB962C8B-B14F-4D97-AF65-F5344CB8AC3E}">
        <p14:creationId xmlns:p14="http://schemas.microsoft.com/office/powerpoint/2010/main" val="1178549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2026-09-30T20:41:24.3240000Z</dcterms:created>
  <dcterms:modified xsi:type="dcterms:W3CDTF">2026-09-30T20:41:24.3240000Z</dcterms:modified>
</coreProperties>
</file>